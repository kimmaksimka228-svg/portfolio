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Playfair Display Medium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ayfairDisplayMedium-bold.fntdata"/><Relationship Id="rId12" Type="http://schemas.openxmlformats.org/officeDocument/2006/relationships/font" Target="fonts/PlayfairDisplay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Medium-boldItalic.fntdata"/><Relationship Id="rId14" Type="http://schemas.openxmlformats.org/officeDocument/2006/relationships/font" Target="fonts/PlayfairDisplay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e7d39c22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e7d39c22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e7d39c22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e7d39c22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e7d39c22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e7d39c22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e7d39c22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e7d39c22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e7d39c224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e7d39c22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e7d39c224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e7d39c224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gif"/><Relationship Id="rId4" Type="http://schemas.openxmlformats.org/officeDocument/2006/relationships/image" Target="../media/image3.gif"/><Relationship Id="rId5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-720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{ </a:t>
            </a:r>
            <a:r>
              <a:rPr lang="ru"/>
              <a:t>Портфолио }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620450" y="1691400"/>
            <a:ext cx="7523700" cy="17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Comic Sans MS"/>
                <a:ea typeface="Comic Sans MS"/>
                <a:cs typeface="Comic Sans MS"/>
                <a:sym typeface="Comic Sans MS"/>
              </a:rPr>
              <a:t>{ </a:t>
            </a:r>
            <a:r>
              <a:rPr lang="ru">
                <a:latin typeface="Comic Sans MS"/>
                <a:ea typeface="Comic Sans MS"/>
                <a:cs typeface="Comic Sans MS"/>
                <a:sym typeface="Comic Sans MS"/>
              </a:rPr>
              <a:t>ФИО: Ким Максим Сергеевич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Comic Sans MS"/>
                <a:ea typeface="Comic Sans MS"/>
                <a:cs typeface="Comic Sans MS"/>
                <a:sym typeface="Comic Sans MS"/>
              </a:rPr>
              <a:t> Причины учебы: Интерес к написанию кода, желание обеспечить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ru">
                <a:latin typeface="Comic Sans MS"/>
                <a:ea typeface="Comic Sans MS"/>
                <a:cs typeface="Comic Sans MS"/>
                <a:sym typeface="Comic Sans MS"/>
              </a:rPr>
              <a:t>свое будущее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Comic Sans MS"/>
                <a:ea typeface="Comic Sans MS"/>
                <a:cs typeface="Comic Sans MS"/>
                <a:sym typeface="Comic Sans MS"/>
              </a:rPr>
              <a:t> Профессия(будущая): Разработчик программного обеспечения } 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79725" y="3376425"/>
            <a:ext cx="162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57" name="Google Shape;57;p13"/>
          <p:cNvSpPr/>
          <p:nvPr/>
        </p:nvSpPr>
        <p:spPr>
          <a:xfrm>
            <a:off x="103825" y="1875575"/>
            <a:ext cx="348000" cy="163200"/>
          </a:xfrm>
          <a:prstGeom prst="roundRect">
            <a:avLst>
              <a:gd fmla="val 16667" name="adj"/>
            </a:avLst>
          </a:prstGeom>
          <a:solidFill>
            <a:srgbClr val="66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451825" y="2876175"/>
            <a:ext cx="348000" cy="163200"/>
          </a:xfrm>
          <a:prstGeom prst="roundRect">
            <a:avLst>
              <a:gd fmla="val 16667" name="adj"/>
            </a:avLst>
          </a:prstGeom>
          <a:solidFill>
            <a:srgbClr val="66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174125" y="4866300"/>
            <a:ext cx="348000" cy="163200"/>
          </a:xfrm>
          <a:prstGeom prst="roundRect">
            <a:avLst>
              <a:gd fmla="val 16667" name="adj"/>
            </a:avLst>
          </a:prstGeom>
          <a:solidFill>
            <a:srgbClr val="66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451825" y="2038775"/>
            <a:ext cx="348000" cy="163200"/>
          </a:xfrm>
          <a:prstGeom prst="roundRect">
            <a:avLst>
              <a:gd fmla="val 16667" name="adj"/>
            </a:avLst>
          </a:prstGeom>
          <a:solidFill>
            <a:srgbClr val="783F0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451825" y="3301100"/>
            <a:ext cx="348000" cy="163200"/>
          </a:xfrm>
          <a:prstGeom prst="roundRect">
            <a:avLst>
              <a:gd fmla="val 16667" name="adj"/>
            </a:avLst>
          </a:prstGeom>
          <a:solidFill>
            <a:srgbClr val="783F0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174125" y="4563425"/>
            <a:ext cx="348000" cy="163200"/>
          </a:xfrm>
          <a:prstGeom prst="roundRect">
            <a:avLst>
              <a:gd fmla="val 16667" name="adj"/>
            </a:avLst>
          </a:prstGeom>
          <a:solidFill>
            <a:srgbClr val="783F0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522125" y="4726625"/>
            <a:ext cx="348000" cy="163200"/>
          </a:xfrm>
          <a:prstGeom prst="roundRect">
            <a:avLst>
              <a:gd fmla="val 16667" name="adj"/>
            </a:avLst>
          </a:prstGeom>
          <a:solidFill>
            <a:srgbClr val="783F0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103825" y="2375875"/>
            <a:ext cx="348000" cy="163200"/>
          </a:xfrm>
          <a:prstGeom prst="roundRect">
            <a:avLst>
              <a:gd fmla="val 16667" name="adj"/>
            </a:avLst>
          </a:prstGeom>
          <a:solidFill>
            <a:srgbClr val="274E1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451825" y="3088638"/>
            <a:ext cx="348000" cy="163200"/>
          </a:xfrm>
          <a:prstGeom prst="roundRect">
            <a:avLst>
              <a:gd fmla="val 16667" name="adj"/>
            </a:avLst>
          </a:prstGeom>
          <a:solidFill>
            <a:srgbClr val="274E1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103825" y="3621075"/>
            <a:ext cx="348000" cy="163200"/>
          </a:xfrm>
          <a:prstGeom prst="roundRect">
            <a:avLst>
              <a:gd fmla="val 16667" name="adj"/>
            </a:avLst>
          </a:prstGeom>
          <a:solidFill>
            <a:srgbClr val="274E1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522125" y="4344650"/>
            <a:ext cx="348000" cy="163200"/>
          </a:xfrm>
          <a:prstGeom prst="roundRect">
            <a:avLst>
              <a:gd fmla="val 16667" name="adj"/>
            </a:avLst>
          </a:prstGeom>
          <a:solidFill>
            <a:srgbClr val="274E1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3"/>
          <p:cNvSpPr/>
          <p:nvPr/>
        </p:nvSpPr>
        <p:spPr>
          <a:xfrm>
            <a:off x="103825" y="4083700"/>
            <a:ext cx="348000" cy="163200"/>
          </a:xfrm>
          <a:prstGeom prst="roundRect">
            <a:avLst>
              <a:gd fmla="val 16667" name="adj"/>
            </a:avLst>
          </a:prstGeom>
          <a:solidFill>
            <a:srgbClr val="0C343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103825" y="2998475"/>
            <a:ext cx="348000" cy="163200"/>
          </a:xfrm>
          <a:prstGeom prst="roundRect">
            <a:avLst>
              <a:gd fmla="val 16667" name="adj"/>
            </a:avLst>
          </a:prstGeom>
          <a:solidFill>
            <a:srgbClr val="0C343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522125" y="3822875"/>
            <a:ext cx="348000" cy="163200"/>
          </a:xfrm>
          <a:prstGeom prst="roundRect">
            <a:avLst>
              <a:gd fmla="val 16667" name="adj"/>
            </a:avLst>
          </a:prstGeom>
          <a:solidFill>
            <a:srgbClr val="0C343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451825" y="2563713"/>
            <a:ext cx="348000" cy="163200"/>
          </a:xfrm>
          <a:prstGeom prst="roundRect">
            <a:avLst>
              <a:gd fmla="val 16667" name="adj"/>
            </a:avLst>
          </a:prstGeom>
          <a:solidFill>
            <a:srgbClr val="0C343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3"/>
          <p:cNvSpPr txBox="1"/>
          <p:nvPr/>
        </p:nvSpPr>
        <p:spPr>
          <a:xfrm>
            <a:off x="1142625" y="4391075"/>
            <a:ext cx="394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CC0000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import</a:t>
            </a:r>
            <a:r>
              <a:rPr lang="ru" sz="2100">
                <a:solidFill>
                  <a:schemeClr val="lt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django.https</a:t>
            </a:r>
            <a:endParaRPr sz="2100">
              <a:solidFill>
                <a:schemeClr val="lt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451825" y="1315375"/>
            <a:ext cx="394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5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return</a:t>
            </a:r>
            <a:r>
              <a:rPr lang="ru" sz="1000">
                <a:solidFill>
                  <a:schemeClr val="lt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HttpResponse(</a:t>
            </a:r>
            <a:r>
              <a:rPr lang="ru" sz="1000">
                <a:solidFill>
                  <a:srgbClr val="00FF00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“Hi”</a:t>
            </a:r>
            <a:r>
              <a:rPr lang="ru" sz="1000">
                <a:solidFill>
                  <a:schemeClr val="lt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)</a:t>
            </a:r>
            <a:endParaRPr sz="1000">
              <a:solidFill>
                <a:schemeClr val="lt2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6387650" y="3471825"/>
            <a:ext cx="394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1C23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print(</a:t>
            </a:r>
            <a:r>
              <a:rPr lang="ru" sz="1800">
                <a:solidFill>
                  <a:srgbClr val="E06666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“Hello World”</a:t>
            </a:r>
            <a:r>
              <a:rPr lang="ru" sz="1800">
                <a:solidFill>
                  <a:srgbClr val="FFFF00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)</a:t>
            </a:r>
            <a:endParaRPr sz="1800">
              <a:solidFill>
                <a:srgbClr val="FFFF00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1188850" y="803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latin typeface="Comic Sans MS"/>
                <a:ea typeface="Comic Sans MS"/>
                <a:cs typeface="Comic Sans MS"/>
                <a:sym typeface="Comic Sans MS"/>
              </a:rPr>
              <a:t>{ Мои главные проекты: }</a:t>
            </a:r>
            <a:endParaRPr sz="48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50725" y="1881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Impact"/>
                <a:ea typeface="Impact"/>
                <a:cs typeface="Impact"/>
                <a:sym typeface="Impact"/>
              </a:rPr>
              <a:t>{ Блог: Создание своего блога и чтение чужих. Цель: изучить формы и работу</a:t>
            </a:r>
            <a:endParaRPr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latin typeface="Impact"/>
                <a:ea typeface="Impact"/>
                <a:cs typeface="Impact"/>
                <a:sym typeface="Impact"/>
              </a:rPr>
              <a:t> с моделями.</a:t>
            </a:r>
            <a:endParaRPr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latin typeface="Impact"/>
                <a:ea typeface="Impact"/>
                <a:cs typeface="Impact"/>
                <a:sym typeface="Impact"/>
              </a:rPr>
              <a:t> </a:t>
            </a:r>
            <a:endParaRPr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latin typeface="Impact"/>
                <a:ea typeface="Impact"/>
                <a:cs typeface="Impact"/>
                <a:sym typeface="Impact"/>
              </a:rPr>
              <a:t> Чат: Общение с другими авторизованными людьми. Цель: научится созданию авторизации }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7962100" y="4343100"/>
            <a:ext cx="6263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rgbClr val="00FF00"/>
                </a:solidFill>
              </a:rPr>
              <a:t>&lt;/&gt;</a:t>
            </a:r>
            <a:endParaRPr sz="4000">
              <a:solidFill>
                <a:srgbClr val="00FF00"/>
              </a:solidFill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948225" y="4350"/>
            <a:ext cx="978600" cy="424200"/>
          </a:xfrm>
          <a:prstGeom prst="rect">
            <a:avLst/>
          </a:prstGeom>
          <a:solidFill>
            <a:srgbClr val="F70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2554825" y="4350"/>
            <a:ext cx="3512400" cy="424200"/>
          </a:xfrm>
          <a:prstGeom prst="rect">
            <a:avLst/>
          </a:prstGeom>
          <a:solidFill>
            <a:srgbClr val="00FF5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-25125" y="4147500"/>
            <a:ext cx="2925300" cy="195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3131050" y="4147500"/>
            <a:ext cx="4135200" cy="195600"/>
          </a:xfrm>
          <a:prstGeom prst="rect">
            <a:avLst/>
          </a:prstGeom>
          <a:solidFill>
            <a:srgbClr val="F70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-3499325" y="4528175"/>
            <a:ext cx="4135200" cy="195600"/>
          </a:xfrm>
          <a:prstGeom prst="rect">
            <a:avLst/>
          </a:prstGeom>
          <a:solidFill>
            <a:srgbClr val="F70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/>
          <p:nvPr/>
        </p:nvSpPr>
        <p:spPr>
          <a:xfrm>
            <a:off x="858500" y="4528175"/>
            <a:ext cx="4135200" cy="195600"/>
          </a:xfrm>
          <a:prstGeom prst="rect">
            <a:avLst/>
          </a:prstGeom>
          <a:solidFill>
            <a:srgbClr val="00FF5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-1736450" y="4854475"/>
            <a:ext cx="2925300" cy="195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1423950" y="4854475"/>
            <a:ext cx="2447400" cy="195600"/>
          </a:xfrm>
          <a:prstGeom prst="rect">
            <a:avLst/>
          </a:prstGeom>
          <a:solidFill>
            <a:srgbClr val="F700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4106450" y="4854475"/>
            <a:ext cx="2189700" cy="195600"/>
          </a:xfrm>
          <a:prstGeom prst="rect">
            <a:avLst/>
          </a:prstGeom>
          <a:solidFill>
            <a:srgbClr val="00FF5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pixel art of a white cat holding a blue ball (источник: Tenor)" id="91" name="Google Shape;9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100" y="4136675"/>
            <a:ext cx="978600" cy="9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dell computer monitor displays a blue screen with white text (источник: Tenor)" id="97" name="Google Shape;9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3125" y="366713"/>
            <a:ext cx="3890150" cy="44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1413675" y="105750"/>
            <a:ext cx="38385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chemeClr val="lt2"/>
                </a:solidFill>
                <a:latin typeface="Comic Sans MS"/>
                <a:ea typeface="Comic Sans MS"/>
                <a:cs typeface="Comic Sans MS"/>
                <a:sym typeface="Comic Sans MS"/>
              </a:rPr>
              <a:t>Навыки</a:t>
            </a:r>
            <a:endParaRPr sz="2500">
              <a:solidFill>
                <a:schemeClr val="l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121800" y="780075"/>
            <a:ext cx="489300" cy="478500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rgbClr val="F700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" name="Google Shape;100;p15"/>
          <p:cNvSpPr/>
          <p:nvPr/>
        </p:nvSpPr>
        <p:spPr>
          <a:xfrm>
            <a:off x="121800" y="1628425"/>
            <a:ext cx="489300" cy="478500"/>
          </a:xfrm>
          <a:prstGeom prst="ellipse">
            <a:avLst/>
          </a:prstGeom>
          <a:solidFill>
            <a:srgbClr val="F7001C"/>
          </a:solidFill>
          <a:ln cap="flat" cmpd="sng" w="38100">
            <a:solidFill>
              <a:srgbClr val="00F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1" name="Google Shape;101;p15"/>
          <p:cNvSpPr/>
          <p:nvPr/>
        </p:nvSpPr>
        <p:spPr>
          <a:xfrm>
            <a:off x="121800" y="2476775"/>
            <a:ext cx="489300" cy="478500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rgbClr val="F700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2" name="Google Shape;102;p15"/>
          <p:cNvSpPr/>
          <p:nvPr/>
        </p:nvSpPr>
        <p:spPr>
          <a:xfrm>
            <a:off x="121800" y="3325125"/>
            <a:ext cx="489300" cy="478500"/>
          </a:xfrm>
          <a:prstGeom prst="ellipse">
            <a:avLst/>
          </a:prstGeom>
          <a:solidFill>
            <a:srgbClr val="F7001C"/>
          </a:solidFill>
          <a:ln cap="flat" cmpd="sng" w="38100">
            <a:solidFill>
              <a:srgbClr val="00F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" name="Google Shape;103;p15"/>
          <p:cNvSpPr/>
          <p:nvPr/>
        </p:nvSpPr>
        <p:spPr>
          <a:xfrm>
            <a:off x="121800" y="4173475"/>
            <a:ext cx="489300" cy="478500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rgbClr val="F700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4" name="Google Shape;104;p15"/>
          <p:cNvSpPr txBox="1"/>
          <p:nvPr/>
        </p:nvSpPr>
        <p:spPr>
          <a:xfrm>
            <a:off x="611100" y="780075"/>
            <a:ext cx="29142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2"/>
                </a:solidFill>
              </a:rPr>
              <a:t>Хорошее знание Python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611100" y="1628425"/>
            <a:ext cx="38385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2"/>
                </a:solidFill>
              </a:rPr>
              <a:t>Умение создания Telegram-ботов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611100" y="2476775"/>
            <a:ext cx="39609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2"/>
                </a:solidFill>
              </a:rPr>
              <a:t>Умение создания Django веб прил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611100" y="3325125"/>
            <a:ext cx="38901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2"/>
                </a:solidFill>
              </a:rPr>
              <a:t>Умение создания игр на Pygame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611100" y="4173475"/>
            <a:ext cx="39609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2"/>
                </a:solidFill>
              </a:rPr>
              <a:t>Полная разумная работа с Python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ctrTitle"/>
          </p:nvPr>
        </p:nvSpPr>
        <p:spPr>
          <a:xfrm>
            <a:off x="-2135017" y="-1471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500"/>
              <a:t>{ Опыт работы c</a:t>
            </a:r>
            <a:endParaRPr sz="3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500">
                <a:solidFill>
                  <a:srgbClr val="00FF57"/>
                </a:solidFill>
              </a:rPr>
              <a:t>Cap Education }</a:t>
            </a:r>
            <a:endParaRPr sz="3500">
              <a:solidFill>
                <a:srgbClr val="00FF57"/>
              </a:solidFill>
            </a:endParaRPr>
          </a:p>
        </p:txBody>
      </p:sp>
      <p:pic>
        <p:nvPicPr>
          <p:cNvPr descr="a pixel art of a hand holding a cell phone over a computer monitor . (источник: Tenor)" id="114" name="Google Shape;11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2400" y="1100925"/>
            <a:ext cx="3170750" cy="317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147975" y="2646625"/>
            <a:ext cx="4828200" cy="2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{</a:t>
            </a:r>
            <a:endParaRPr b="1" sz="150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Личные проекты</a:t>
            </a:r>
            <a:r>
              <a:rPr lang="ru" sz="15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- Создавал небольшие сайты/игры/ботов.</a:t>
            </a:r>
            <a:endParaRPr sz="150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Учёба</a:t>
            </a:r>
            <a:r>
              <a:rPr lang="ru" sz="15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- Изучаю </a:t>
            </a:r>
            <a:r>
              <a:rPr lang="ru" sz="1500">
                <a:solidFill>
                  <a:srgbClr val="F1C232"/>
                </a:solidFill>
                <a:latin typeface="Comic Sans MS"/>
                <a:ea typeface="Comic Sans MS"/>
                <a:cs typeface="Comic Sans MS"/>
                <a:sym typeface="Comic Sans MS"/>
              </a:rPr>
              <a:t>Python</a:t>
            </a:r>
            <a:r>
              <a:rPr lang="ru" sz="15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, </a:t>
            </a:r>
            <a:r>
              <a:rPr lang="ru" sz="1500">
                <a:solidFill>
                  <a:srgbClr val="3C78D8"/>
                </a:solidFill>
                <a:latin typeface="Comic Sans MS"/>
                <a:ea typeface="Comic Sans MS"/>
                <a:cs typeface="Comic Sans MS"/>
                <a:sym typeface="Comic Sans MS"/>
              </a:rPr>
              <a:t>HTML</a:t>
            </a:r>
            <a:r>
              <a:rPr lang="ru" sz="15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, </a:t>
            </a:r>
            <a:r>
              <a:rPr lang="ru" sz="1500">
                <a:solidFill>
                  <a:srgbClr val="CC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JavaScript</a:t>
            </a:r>
            <a:r>
              <a:rPr lang="ru" sz="15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sz="150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2"/>
                </a:solidFill>
                <a:latin typeface="Comic Sans MS"/>
                <a:ea typeface="Comic Sans MS"/>
                <a:cs typeface="Comic Sans MS"/>
                <a:sym typeface="Comic Sans MS"/>
              </a:rPr>
              <a:t>}</a:t>
            </a:r>
            <a:endParaRPr sz="1800">
              <a:solidFill>
                <a:schemeClr val="l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ctrTitle"/>
          </p:nvPr>
        </p:nvSpPr>
        <p:spPr>
          <a:xfrm>
            <a:off x="268208" y="-2449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Comic Sans MS"/>
                <a:ea typeface="Comic Sans MS"/>
                <a:cs typeface="Comic Sans MS"/>
                <a:sym typeface="Comic Sans MS"/>
              </a:rPr>
              <a:t>{ Образование: </a:t>
            </a:r>
            <a:r>
              <a:rPr lang="ru">
                <a:solidFill>
                  <a:srgbClr val="1155CC"/>
                </a:solidFill>
                <a:latin typeface="Comic Sans MS"/>
                <a:ea typeface="Comic Sans MS"/>
                <a:cs typeface="Comic Sans MS"/>
                <a:sym typeface="Comic Sans MS"/>
              </a:rPr>
              <a:t>CapEducation </a:t>
            </a:r>
            <a:r>
              <a:rPr lang="ru">
                <a:latin typeface="Comic Sans MS"/>
                <a:ea typeface="Comic Sans MS"/>
                <a:cs typeface="Comic Sans MS"/>
                <a:sym typeface="Comic Sans MS"/>
              </a:rPr>
              <a:t>}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1" name="Google Shape;121;p17"/>
          <p:cNvSpPr txBox="1"/>
          <p:nvPr>
            <p:ph idx="1" type="subTitle"/>
          </p:nvPr>
        </p:nvSpPr>
        <p:spPr>
          <a:xfrm>
            <a:off x="0" y="4459650"/>
            <a:ext cx="914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Impact"/>
                <a:ea typeface="Impact"/>
                <a:cs typeface="Impact"/>
                <a:sym typeface="Impact"/>
              </a:rPr>
              <a:t>{ </a:t>
            </a:r>
            <a:r>
              <a:rPr lang="ru">
                <a:solidFill>
                  <a:srgbClr val="0B5394"/>
                </a:solidFill>
                <a:latin typeface="Impact"/>
                <a:ea typeface="Impact"/>
                <a:cs typeface="Impact"/>
                <a:sym typeface="Impact"/>
              </a:rPr>
              <a:t>CapEducation</a:t>
            </a:r>
            <a:r>
              <a:rPr lang="ru">
                <a:latin typeface="Impact"/>
                <a:ea typeface="Impact"/>
                <a:cs typeface="Impact"/>
                <a:sym typeface="Impact"/>
              </a:rPr>
              <a:t>: Отличная онлайн школа </a:t>
            </a:r>
            <a:r>
              <a:rPr lang="ru">
                <a:latin typeface="Impact"/>
                <a:ea typeface="Impact"/>
                <a:cs typeface="Impact"/>
                <a:sym typeface="Impact"/>
              </a:rPr>
              <a:t>программирования</a:t>
            </a:r>
            <a:r>
              <a:rPr lang="ru">
                <a:latin typeface="Impact"/>
                <a:ea typeface="Impact"/>
                <a:cs typeface="Impact"/>
                <a:sym typeface="Impact"/>
              </a:rPr>
              <a:t> }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22" name="Google Shape;122;p17" title="capedu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475" y="2112425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smiley face with a white hand pointing up (источник: Tenor)" id="123" name="Google Shape;12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2825" y="1960025"/>
            <a:ext cx="2347225" cy="234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4199650" y="2424900"/>
            <a:ext cx="9270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0">
                <a:solidFill>
                  <a:schemeClr val="lt2"/>
                </a:solidFill>
              </a:rPr>
              <a:t>=</a:t>
            </a:r>
            <a:endParaRPr sz="10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ctrTitle"/>
          </p:nvPr>
        </p:nvSpPr>
        <p:spPr>
          <a:xfrm>
            <a:off x="-195692" y="-4023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Comic Sans MS"/>
                <a:ea typeface="Comic Sans MS"/>
                <a:cs typeface="Comic Sans MS"/>
                <a:sym typeface="Comic Sans MS"/>
              </a:rPr>
              <a:t>{ Контакты, от куда узнал о </a:t>
            </a:r>
            <a:r>
              <a:rPr lang="ru">
                <a:solidFill>
                  <a:srgbClr val="1155CC"/>
                </a:solidFill>
                <a:latin typeface="Comic Sans MS"/>
                <a:ea typeface="Comic Sans MS"/>
                <a:cs typeface="Comic Sans MS"/>
                <a:sym typeface="Comic Sans MS"/>
              </a:rPr>
              <a:t>CapEdu </a:t>
            </a:r>
            <a:r>
              <a:rPr lang="ru">
                <a:latin typeface="Comic Sans MS"/>
                <a:ea typeface="Comic Sans MS"/>
                <a:cs typeface="Comic Sans MS"/>
                <a:sym typeface="Comic Sans MS"/>
              </a:rPr>
              <a:t>}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0" name="Google Shape;130;p18"/>
          <p:cNvSpPr txBox="1"/>
          <p:nvPr>
            <p:ph idx="1" type="subTitle"/>
          </p:nvPr>
        </p:nvSpPr>
        <p:spPr>
          <a:xfrm>
            <a:off x="724925" y="3710700"/>
            <a:ext cx="8520600" cy="14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Comic Sans MS"/>
                <a:ea typeface="Comic Sans MS"/>
                <a:cs typeface="Comic Sans MS"/>
                <a:sym typeface="Comic Sans MS"/>
              </a:rPr>
              <a:t>{ После долгого поиска школы </a:t>
            </a:r>
            <a:r>
              <a:rPr lang="ru">
                <a:latin typeface="Comic Sans MS"/>
                <a:ea typeface="Comic Sans MS"/>
                <a:cs typeface="Comic Sans MS"/>
                <a:sym typeface="Comic Sans MS"/>
              </a:rPr>
              <a:t>программирования, я и моя мама нашли </a:t>
            </a:r>
            <a:r>
              <a:rPr lang="ru">
                <a:solidFill>
                  <a:srgbClr val="3C78D8"/>
                </a:solidFill>
                <a:latin typeface="Comic Sans MS"/>
                <a:ea typeface="Comic Sans MS"/>
                <a:cs typeface="Comic Sans MS"/>
                <a:sym typeface="Comic Sans MS"/>
              </a:rPr>
              <a:t>CapEdu</a:t>
            </a:r>
            <a:r>
              <a:rPr lang="ru">
                <a:latin typeface="Comic Sans MS"/>
                <a:ea typeface="Comic Sans MS"/>
                <a:cs typeface="Comic Sans MS"/>
                <a:sym typeface="Comic Sans MS"/>
              </a:rPr>
              <a:t>, и эта школа оказалась лучшим вариантом. </a:t>
            </a:r>
            <a:r>
              <a:rPr lang="ru">
                <a:latin typeface="Comic Sans MS"/>
                <a:ea typeface="Comic Sans MS"/>
                <a:cs typeface="Comic Sans MS"/>
                <a:sym typeface="Comic Sans MS"/>
              </a:rPr>
              <a:t>}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a hamster is wearing a hat and holding a lollipop . (источник: Tenor)" id="131" name="Google Shape;13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02650"/>
            <a:ext cx="1888366" cy="175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white hamster with a pink nose and tongue sticking out is smiling . (источник: Tenor)" id="132" name="Google Shape;13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5941" y="2805825"/>
            <a:ext cx="90487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cat looking at the camera (источник: Tenor)" id="133" name="Google Shape;13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1141" y="1955050"/>
            <a:ext cx="1755650" cy="175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